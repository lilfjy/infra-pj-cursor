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a total-capacity problem, a distribution problem. Bagnoli venue has 3 lines and spare capacity, but Metro Line 1 — central spine through Napoli Centrale — is the binding constraint: 0.71 to 0.91 on an event day, over 1.0 at 60% transit share or under corridor concentration (1.20).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Left: choropleth on real zone boundaries — added demand concentrates in central Naples and the gateway; the venue absorbs less. Right: sensitivity — only Line 1 crosses 1.0, only at 60% transit share, so the conclusion is robust to the assumption.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OSRM accessibility: 71% within a 45-min drive (mean 41 min) — Naples-centred, why the central corridor takes the pressure. ~21% from beyond 60 min leans on regional rail. Conclusion: distribution problem, not shortfall — target Line 1 and the gateway. Mitigation (shuttle bus) is the Services-improvement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95B"/>
                </a:solidFill>
              </a:rPr>
              <a:t>Can the rail network absorb the America's Cup?</a:t>
            </a:r>
          </a:p>
          <a:p>
            <a:r>
              <a:rPr sz="1400" i="1">
                <a:solidFill>
                  <a:srgbClr val="555555"/>
                </a:solidFill>
              </a:rPr>
              <a:t>Part B — Capacity &amp; Saturation (V/C). Diagnosis only; mitigation = Services-improvement section.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5120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</a:rPr>
              <a:t>Headline: NOT a capacity problem — a DISTRIBUTION problem.</a:t>
            </a:r>
          </a:p>
          <a:p>
            <a:pPr>
              <a:spcAft>
                <a:spcPts val="600"/>
              </a:spcAft>
            </a:pPr>
            <a:r>
              <a:rPr sz="1600" b="0"/>
              <a:t>• Metro Line 1 is the binding constraint: 0.71 → 0.91 at peak (event day), &gt;1.0 at 60% transit share or under corridor concentration (1.20).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95B"/>
                </a:solidFill>
              </a:rPr>
              <a:t>Demand growth into event zones:</a:t>
            </a:r>
          </a:p>
          <a:p>
            <a:pPr>
              <a:spcAft>
                <a:spcPts val="600"/>
              </a:spcAft>
            </a:pPr>
            <a:r>
              <a:rPr sz="1600" b="0"/>
              <a:t>• Region-wide  +9.7%</a:t>
            </a:r>
          </a:p>
          <a:p>
            <a:pPr>
              <a:spcAft>
                <a:spcPts val="600"/>
              </a:spcAft>
            </a:pPr>
            <a:r>
              <a:rPr sz="1600" b="0"/>
              <a:t>• Event-day, 9 event zones  +25%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C0392B"/>
                </a:solidFill>
              </a:rPr>
              <a:t>• Steepest: Centro Direzionale +74%, Race Village +45%</a:t>
            </a:r>
          </a:p>
          <a:p>
            <a:pPr>
              <a:spcAft>
                <a:spcPts val="600"/>
              </a:spcAft>
            </a:pPr>
            <a:r>
              <a:rPr sz="1600" b="0"/>
              <a:t>• The race venue (Bagnoli) is over-served — 3 lines, V/C only ~0.5–0.7.</a:t>
            </a:r>
          </a:p>
        </p:txBody>
      </p:sp>
      <p:pic>
        <p:nvPicPr>
          <p:cNvPr id="4" name="Picture 3" descr="B_chart_VC_by_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321435"/>
            <a:ext cx="6126480" cy="369946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95B"/>
                </a:solidFill>
              </a:rPr>
              <a:t>Saturation concentrates on the central spine — not the venue</a:t>
            </a:r>
          </a:p>
        </p:txBody>
      </p:sp>
      <p:pic>
        <p:nvPicPr>
          <p:cNvPr id="3" name="Picture 2" descr="B_map_saturation_shape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5394960" cy="3774251"/>
          </a:xfrm>
          <a:prstGeom prst="rect">
            <a:avLst/>
          </a:prstGeom>
        </p:spPr>
      </p:pic>
      <p:pic>
        <p:nvPicPr>
          <p:cNvPr id="4" name="Picture 3" descr="B_chart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554480"/>
            <a:ext cx="5943600" cy="35921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0" y="5486400"/>
            <a:ext cx="5943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55555"/>
                </a:solidFill>
              </a:rPr>
              <a:t>• Choropleth: added demand lands on central Naples / Napoli Centrale; the venue is lighter. Sensitivity: only L1 crosses 1.0 (at 60%).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95B"/>
                </a:solidFill>
              </a:rPr>
              <a:t>Where demand comes from (OSRM) + conclusion</a:t>
            </a:r>
          </a:p>
        </p:txBody>
      </p:sp>
      <p:pic>
        <p:nvPicPr>
          <p:cNvPr id="3" name="Picture 2" descr="B_map_accessibility_shape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5394960" cy="470332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0" y="1463040"/>
            <a:ext cx="5943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95B"/>
                </a:solidFill>
              </a:rPr>
              <a:t>Road accessibility (my OSRM 222×222 real-road time matrix):</a:t>
            </a:r>
          </a:p>
          <a:p>
            <a:pPr>
              <a:spcAft>
                <a:spcPts val="600"/>
              </a:spcAft>
            </a:pPr>
            <a:r>
              <a:rPr sz="1600" b="0"/>
              <a:t>• 71% of Campania-origin tourist demand is within a 45-min drive (mean 41 min) → Naples-centred → confirms central L1 pressure.</a:t>
            </a:r>
          </a:p>
          <a:p>
            <a:pPr>
              <a:spcAft>
                <a:spcPts val="600"/>
              </a:spcAft>
            </a:pPr>
            <a:r>
              <a:rPr sz="1600" b="0"/>
              <a:t>• ~21% comes from &gt;60 min away (Salerno/Cilento) → relies on road approaches + regional rail.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4480560"/>
            <a:ext cx="5943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800">
                <a:solidFill>
                  <a:srgbClr val="C0392B"/>
                </a:solidFill>
              </a:rPr>
              <a:t>Conclusion</a:t>
            </a:r>
          </a:p>
          <a:p>
            <a:r>
              <a:rPr sz="1500"/>
              <a:t>• Total capacity is sufficient (~24,000 pax/h/dir) — the issue is its distribution.</a:t>
            </a:r>
          </a:p>
          <a:p>
            <a:r>
              <a:rPr sz="1500"/>
              <a:t>• → Target relief on L1 / Napoli Centrale (peak frequency ↑, divert via Line 6).</a:t>
            </a:r>
          </a:p>
          <a:p>
            <a:r>
              <a:rPr sz="1500"/>
              <a:t>• Concrete measures (shuttle bus) → Services-improvement section.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