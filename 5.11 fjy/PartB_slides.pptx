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30s: I analysed whether the rail network can absorb the America's Cup demand with a V/C saturation analysis. Key finding: not a total-capacity problem, a distribution problem. The Bagnoli venue has 3 lines and spare capacity, but Metro Line 1 — the central spine through Napoli Centrale — is the binding constraint: 0.69 to 0.84 at peak, over 1.0 if transit share reaches 60%. So the network won't collapse overall, but L1 will unless that corridor is reinforced.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angles. Left: spatial — red bubbles (big tourist load, saturated) cluster in central Naples / Napoli Centrale; green = the venue, which has headroom. Right: sensitivity — I tested transit share at 40/50/60% because the phone data can't observe metro mode share. Only Line 1 crosses 1.0, and only at 60%. So the conclusion 'L1 is the constraint' is robust to the assumption; the absolute number isn't, and I'm transparent about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also built a real road-network travel-time matrix with OSRM to see where demand originates. 73% is within a 45-min drive of the venues — Naples-centred, which is exactly why the central Line 1 corridor takes the pressure. ~20% comes from beyond 60 min and leans on regional rail. Conclusion: it's a distribution problem, not a shortfall — target Line 1 and the gateway, rather than building new lines. The detailed mitigation (shuttle bus) is the Services-improvement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95B"/>
                </a:solidFill>
              </a:rPr>
              <a:t>Can the rail network absorb the America's Cup?</a:t>
            </a:r>
          </a:p>
          <a:p>
            <a:r>
              <a:rPr sz="1400" i="1">
                <a:solidFill>
                  <a:srgbClr val="555555"/>
                </a:solidFill>
              </a:rPr>
              <a:t>Part B — Capacity &amp; Saturation analysis (V/C).  Diagnosis only; mitigation = Services-improvement section.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</a:rPr>
              <a:t>Headline: NOT a capacity problem — a DISTRIBUTION problem.</a:t>
            </a:r>
          </a:p>
          <a:p>
            <a:pPr>
              <a:spcAft>
                <a:spcPts val="600"/>
              </a:spcAft>
            </a:pPr>
            <a:r>
              <a:rPr sz="1600" b="0"/>
              <a:t>• Metro Line 1 is the binding constraint: 0.69 → 0.84 at peak, &gt;1.0 if transit share hits 60%.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95B"/>
                </a:solidFill>
              </a:rPr>
              <a:t>Demand growth into event zones:</a:t>
            </a:r>
          </a:p>
          <a:p>
            <a:pPr>
              <a:spcAft>
                <a:spcPts val="600"/>
              </a:spcAft>
            </a:pPr>
            <a:r>
              <a:rPr sz="1600" b="0"/>
              <a:t>• Region-wide  +11%</a:t>
            </a:r>
          </a:p>
          <a:p>
            <a:pPr>
              <a:spcAft>
                <a:spcPts val="600"/>
              </a:spcAft>
            </a:pPr>
            <a:r>
              <a:rPr sz="1600" b="0"/>
              <a:t>• Central event zones  +23%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0392B"/>
                </a:solidFill>
              </a:rPr>
              <a:t>• Napoli Centrale gateway  +50%</a:t>
            </a:r>
          </a:p>
          <a:p>
            <a:pPr>
              <a:spcAft>
                <a:spcPts val="600"/>
              </a:spcAft>
            </a:pPr>
            <a:r>
              <a:rPr sz="1600" b="0"/>
              <a:t>• The race venue (Bagnoli) is over-served — 3 lines, V/C only ~0.35.</a:t>
            </a:r>
          </a:p>
        </p:txBody>
      </p:sp>
      <p:pic>
        <p:nvPicPr>
          <p:cNvPr id="4" name="Picture 3" descr="B_chart_VC_by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25880"/>
            <a:ext cx="6126480" cy="36878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95B"/>
                </a:solidFill>
              </a:rPr>
              <a:t>Saturation concentrates on the central spine — not the venue</a:t>
            </a:r>
          </a:p>
        </p:txBody>
      </p:sp>
      <p:pic>
        <p:nvPicPr>
          <p:cNvPr id="3" name="Picture 2" descr="B_map_sat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212080" cy="4598664"/>
          </a:xfrm>
          <a:prstGeom prst="rect">
            <a:avLst/>
          </a:prstGeom>
        </p:spPr>
      </p:pic>
      <p:pic>
        <p:nvPicPr>
          <p:cNvPr id="4" name="Picture 3" descr="B_chart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463040"/>
            <a:ext cx="6035040" cy="36474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539496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</a:rPr>
              <a:t>• Venue (West): 3 lines, V/C ~0.35 — ample headroom.  Central spine L1: 0.69→0.84, crosses 1.0 at 60% transit share.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95B"/>
                </a:solidFill>
              </a:rPr>
              <a:t>Where demand comes from (OSRM) + conclusion</a:t>
            </a:r>
          </a:p>
        </p:txBody>
      </p:sp>
      <p:pic>
        <p:nvPicPr>
          <p:cNvPr id="3" name="Picture 2" descr="B_map_accessibility_os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5212080" cy="49101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463040"/>
            <a:ext cx="6126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95B"/>
                </a:solidFill>
              </a:rPr>
              <a:t>Road accessibility (my OSRM 222×222 real-road time matrix):</a:t>
            </a:r>
          </a:p>
          <a:p>
            <a:pPr>
              <a:spcAft>
                <a:spcPts val="600"/>
              </a:spcAft>
            </a:pPr>
            <a:r>
              <a:rPr sz="1600" b="0"/>
              <a:t>• 73% of Campania-origin tourist demand is within a 45-min drive (mean 37 min) → Naples-centred → confirms central L1 pressure.</a:t>
            </a:r>
          </a:p>
          <a:p>
            <a:pPr>
              <a:spcAft>
                <a:spcPts val="600"/>
              </a:spcAft>
            </a:pPr>
            <a:r>
              <a:rPr sz="1600" b="0"/>
              <a:t>• ~20% comes from &gt;60 min away (Salerno/Cilento) → relies on road approaches + regional rail.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4480560"/>
            <a:ext cx="6126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C0392B"/>
                </a:solidFill>
              </a:rPr>
              <a:t>Conclusion</a:t>
            </a:r>
          </a:p>
          <a:p>
            <a:r>
              <a:rPr sz="1500"/>
              <a:t>• Total capacity is sufficient (~24,000 pax/h/dir) — the issue is its distribution.</a:t>
            </a:r>
          </a:p>
          <a:p>
            <a:r>
              <a:rPr sz="1500"/>
              <a:t>• → Target relief on L1 / Napoli Centrale (peak frequency ↑, divert via Line 6 Municipio↔Mostra).</a:t>
            </a:r>
          </a:p>
          <a:p>
            <a:r>
              <a:rPr sz="1500"/>
              <a:t>• Concrete measures (shuttle bus) → Services-improvement 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