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647" r:id="rId3"/>
    <p:sldId id="673" r:id="rId5"/>
    <p:sldId id="648" r:id="rId6"/>
    <p:sldId id="658" r:id="rId7"/>
    <p:sldId id="659" r:id="rId8"/>
    <p:sldId id="662" r:id="rId9"/>
    <p:sldId id="660" r:id="rId10"/>
    <p:sldId id="661" r:id="rId11"/>
    <p:sldId id="670" r:id="rId12"/>
    <p:sldId id="671" r:id="rId13"/>
    <p:sldId id="653" r:id="rId14"/>
    <p:sldId id="663" r:id="rId15"/>
    <p:sldId id="664" r:id="rId16"/>
  </p:sldIdLst>
  <p:sldSz cx="9144000" cy="6858000" type="screen4x3"/>
  <p:notesSz cx="7099300" cy="10234295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2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2142"/>
    <a:srgbClr val="728FA5"/>
    <a:srgbClr val="1A41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44" autoAdjust="0"/>
  </p:normalViewPr>
  <p:slideViewPr>
    <p:cSldViewPr snapToGrid="0" snapToObjects="1" showGuides="1">
      <p:cViewPr>
        <p:scale>
          <a:sx n="100" d="100"/>
          <a:sy n="100" d="100"/>
        </p:scale>
        <p:origin x="974" y="-10"/>
      </p:cViewPr>
      <p:guideLst>
        <p:guide orient="horz" pos="2139"/>
        <p:guide pos="28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spPr/>
          <c:explosion val="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explosion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Tourists</c:v>
                </c:pt>
                <c:pt idx="1">
                  <c:v>Local Residents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460819</c:v>
                </c:pt>
                <c:pt idx="1">
                  <c:v>1339181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1f31628-1ea7-45ea-b379-d88eabbfeb9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84D66B4-C284-4B4F-B9FF-DD799F19C106}" type="datetimeFigureOut">
              <a:rPr lang="it-IT" smtClean="0"/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it-IT"/>
              <a:t>Fare clic per modificare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C11B38F-3E51-4270-A0B1-9BC5E8CDDE7D}" type="slidenum">
              <a:rPr lang="it-IT" smtClean="0"/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1B38F-3E51-4270-A0B1-9BC5E8CDDE7D}" type="slidenum">
              <a:rPr lang="it-IT" smtClean="0"/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</p:spPr>
      </p:sp>
      <p:sp>
        <p:nvSpPr>
          <p:cNvPr id="1536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1749B-0BD9-45CB-B9A2-51883EC74B12}" type="slidenum">
              <a:rPr lang="it-IT" sz="1200" smtClean="0">
                <a:latin typeface="Times" pitchFamily="18" charset="0"/>
              </a:rPr>
            </a:fld>
            <a:endParaRPr lang="it-IT" sz="1200">
              <a:latin typeface="Times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</p:spPr>
      </p:sp>
      <p:sp>
        <p:nvSpPr>
          <p:cNvPr id="1536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1749B-0BD9-45CB-B9A2-51883EC74B12}" type="slidenum">
              <a:rPr lang="it-IT" sz="1200" smtClean="0">
                <a:latin typeface="Times" pitchFamily="18" charset="0"/>
              </a:rPr>
            </a:fld>
            <a:endParaRPr lang="it-IT" sz="1200">
              <a:latin typeface="Times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</p:spPr>
      </p:sp>
      <p:sp>
        <p:nvSpPr>
          <p:cNvPr id="1536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1749B-0BD9-45CB-B9A2-51883EC74B12}" type="slidenum">
              <a:rPr lang="it-IT" sz="1200" smtClean="0">
                <a:latin typeface="Times" pitchFamily="18" charset="0"/>
              </a:rPr>
            </a:fld>
            <a:endParaRPr lang="it-IT" sz="1200">
              <a:latin typeface="Times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</p:spPr>
      </p:sp>
      <p:sp>
        <p:nvSpPr>
          <p:cNvPr id="1536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1749B-0BD9-45CB-B9A2-51883EC74B12}" type="slidenum">
              <a:rPr lang="it-IT" sz="1200" smtClean="0">
                <a:latin typeface="Times" pitchFamily="18" charset="0"/>
              </a:rPr>
            </a:fld>
            <a:endParaRPr lang="it-IT" sz="1200">
              <a:latin typeface="Times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</p:spPr>
      </p:sp>
      <p:sp>
        <p:nvSpPr>
          <p:cNvPr id="1536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1749B-0BD9-45CB-B9A2-51883EC74B12}" type="slidenum">
              <a:rPr lang="it-IT" sz="1200" smtClean="0">
                <a:latin typeface="Times" pitchFamily="18" charset="0"/>
              </a:rPr>
            </a:fld>
            <a:endParaRPr lang="it-IT" sz="1200">
              <a:latin typeface="Times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</p:spPr>
      </p:sp>
      <p:sp>
        <p:nvSpPr>
          <p:cNvPr id="1536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1749B-0BD9-45CB-B9A2-51883EC74B12}" type="slidenum">
              <a:rPr lang="it-IT" sz="1200" smtClean="0">
                <a:latin typeface="Times" pitchFamily="18" charset="0"/>
              </a:rPr>
            </a:fld>
            <a:endParaRPr lang="it-IT" sz="1200">
              <a:latin typeface="Times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</p:spPr>
      </p:sp>
      <p:sp>
        <p:nvSpPr>
          <p:cNvPr id="1536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1749B-0BD9-45CB-B9A2-51883EC74B12}" type="slidenum">
              <a:rPr lang="it-IT" sz="1200" smtClean="0">
                <a:latin typeface="Times" pitchFamily="18" charset="0"/>
              </a:rPr>
            </a:fld>
            <a:endParaRPr lang="it-IT" sz="1200">
              <a:latin typeface="Times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</p:spPr>
      </p:sp>
      <p:sp>
        <p:nvSpPr>
          <p:cNvPr id="1536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1749B-0BD9-45CB-B9A2-51883EC74B12}" type="slidenum">
              <a:rPr lang="it-IT" sz="1200" smtClean="0">
                <a:latin typeface="Times" pitchFamily="18" charset="0"/>
              </a:rPr>
            </a:fld>
            <a:endParaRPr lang="it-IT" sz="1200">
              <a:latin typeface="Times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</p:spPr>
      </p:sp>
      <p:sp>
        <p:nvSpPr>
          <p:cNvPr id="1536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1749B-0BD9-45CB-B9A2-51883EC74B12}" type="slidenum">
              <a:rPr lang="it-IT" sz="1200" smtClean="0">
                <a:latin typeface="Times" pitchFamily="18" charset="0"/>
              </a:rPr>
            </a:fld>
            <a:endParaRPr lang="it-IT" sz="1200">
              <a:latin typeface="Times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</p:spPr>
      </p:sp>
      <p:sp>
        <p:nvSpPr>
          <p:cNvPr id="1536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51749B-0BD9-45CB-B9A2-51883EC74B12}" type="slidenum">
              <a:rPr lang="it-IT" sz="1200" smtClean="0">
                <a:latin typeface="Times" pitchFamily="18" charset="0"/>
              </a:rPr>
            </a:fld>
            <a:endParaRPr lang="it-IT" sz="1200">
              <a:latin typeface="Times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Y:\IMMAGINE _COORDINATA_2014\PPT\loghi_PNG\01_polimi_centrato_BN_negativo_outline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454" y="395873"/>
            <a:ext cx="1442830" cy="110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Rettangolo 125"/>
          <p:cNvSpPr/>
          <p:nvPr userDrawn="1"/>
        </p:nvSpPr>
        <p:spPr>
          <a:xfrm>
            <a:off x="0" y="1834176"/>
            <a:ext cx="9144000" cy="5023823"/>
          </a:xfrm>
          <a:prstGeom prst="rect">
            <a:avLst/>
          </a:prstGeom>
          <a:solidFill>
            <a:srgbClr val="1A4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9" name="Gruppo 168"/>
          <p:cNvGrpSpPr/>
          <p:nvPr userDrawn="1"/>
        </p:nvGrpSpPr>
        <p:grpSpPr>
          <a:xfrm>
            <a:off x="38482" y="1835151"/>
            <a:ext cx="9036647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Segnaposto testo 4"/>
          <p:cNvSpPr>
            <a:spLocks noGrp="1"/>
          </p:cNvSpPr>
          <p:nvPr>
            <p:ph type="body" sz="quarter" idx="10" hasCustomPrompt="1"/>
          </p:nvPr>
        </p:nvSpPr>
        <p:spPr>
          <a:xfrm>
            <a:off x="4203700" y="6364177"/>
            <a:ext cx="533400" cy="369887"/>
          </a:xfrm>
        </p:spPr>
        <p:txBody>
          <a:bodyPr>
            <a:noAutofit/>
          </a:bodyPr>
          <a:lstStyle>
            <a:lvl1pPr algn="ctr"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3pPr algn="l">
              <a:defRPr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algn="l">
              <a:defRPr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algn="l">
              <a:defRPr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fld id="{8A8E439D-BB6F-4F92-80E7-E75DF2140600}" type="slidenum">
              <a:rPr lang="it-IT" smtClean="0"/>
            </a:fld>
            <a:endParaRPr lang="it-IT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 userDrawn="1"/>
        </p:nvSpPr>
        <p:spPr>
          <a:xfrm>
            <a:off x="0" y="9238"/>
            <a:ext cx="9144000" cy="7527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242341" y="74514"/>
            <a:ext cx="8581043" cy="635534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it-IT" dirty="0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457200" y="919016"/>
            <a:ext cx="8323726" cy="5409071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>
              <a:defRPr sz="2000"/>
            </a:lvl2pPr>
            <a:lvl3pPr>
              <a:defRPr sz="1900"/>
            </a:lvl3pPr>
            <a:lvl4pPr>
              <a:defRPr sz="1800"/>
            </a:lvl4pPr>
          </a:lstStyle>
          <a:p>
            <a:pPr lvl="0"/>
            <a:r>
              <a:rPr lang="it-IT" dirty="0"/>
              <a:t>Fare clic per modificare stili del testo dello schema</a:t>
            </a:r>
            <a:endParaRPr lang="it-IT" dirty="0"/>
          </a:p>
          <a:p>
            <a:pPr lvl="1"/>
            <a:r>
              <a:rPr lang="it-IT" dirty="0"/>
              <a:t>Secondo livello</a:t>
            </a:r>
            <a:endParaRPr lang="it-IT" dirty="0"/>
          </a:p>
          <a:p>
            <a:pPr lvl="2"/>
            <a:r>
              <a:rPr lang="it-IT" dirty="0"/>
              <a:t>Terzo livello</a:t>
            </a:r>
            <a:endParaRPr lang="it-IT" dirty="0"/>
          </a:p>
          <a:p>
            <a:pPr lvl="3"/>
            <a:r>
              <a:rPr lang="it-IT" dirty="0"/>
              <a:t>Quarto livello</a:t>
            </a:r>
            <a:endParaRPr lang="it-IT" dirty="0"/>
          </a:p>
        </p:txBody>
      </p:sp>
      <p:sp>
        <p:nvSpPr>
          <p:cNvPr id="129" name="Rettangolo 128"/>
          <p:cNvSpPr/>
          <p:nvPr userDrawn="1"/>
        </p:nvSpPr>
        <p:spPr>
          <a:xfrm>
            <a:off x="0" y="6363771"/>
            <a:ext cx="9144000" cy="50375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58261" y="6437659"/>
            <a:ext cx="490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Politecnico di Milano                                         /</a:t>
            </a:r>
            <a:fld id="{8A8E439D-BB6F-4F92-80E7-E75DF2140600}" type="slidenum">
              <a:rPr lang="it-IT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fld>
            <a:endParaRPr lang="it-IT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" name="Gruppo 9"/>
          <p:cNvGrpSpPr/>
          <p:nvPr userDrawn="1"/>
        </p:nvGrpSpPr>
        <p:grpSpPr>
          <a:xfrm>
            <a:off x="48007" y="631509"/>
            <a:ext cx="9036647" cy="180000"/>
            <a:chOff x="1218340" y="275867"/>
            <a:chExt cx="17715122" cy="567843"/>
          </a:xfrm>
        </p:grpSpPr>
        <p:cxnSp>
          <p:nvCxnSpPr>
            <p:cNvPr id="11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2" name="Picture 2" descr="Y:\IMMAGINE _COORDINATA_2014\PPT\modello1\loghi_PNG\03_Polimi_logotipo_bandiera-1rig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758" y="6494105"/>
            <a:ext cx="2780124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  <a:endParaRPr lang="it-IT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Rectangle 66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500063" y="1066800"/>
            <a:ext cx="8229600" cy="5291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defRPr sz="1600" b="0"/>
            </a:lvl1pPr>
            <a:lvl2pPr marL="444500" indent="-266700">
              <a:buFont typeface="Arial" panose="020B0604020202020204" pitchFamily="34" charset="0"/>
              <a:buChar char="•"/>
              <a:defRPr sz="1600" b="0"/>
            </a:lvl2pPr>
          </a:lstStyle>
          <a:p>
            <a:pPr lvl="0"/>
            <a:r>
              <a:rPr lang="it-IT" noProof="0"/>
              <a:t>Fare clic per modificare stili del testo dello schema</a:t>
            </a:r>
            <a:endParaRPr lang="it-IT" noProof="0"/>
          </a:p>
          <a:p>
            <a:pPr lvl="1"/>
            <a:r>
              <a:rPr lang="it-IT" noProof="0"/>
              <a:t>Secondo livello</a:t>
            </a:r>
            <a:endParaRPr lang="it-IT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96819"/>
            <a:ext cx="8280920" cy="44404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729352" y="185624"/>
            <a:ext cx="8414648" cy="4460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2400"/>
            </a:lvl1pPr>
          </a:lstStyle>
          <a:p>
            <a:pPr lvl="0"/>
            <a:r>
              <a:rPr lang="de-DE" dirty="0"/>
              <a:t>Click to edit Master title style</a:t>
            </a:r>
            <a:endParaRPr lang="en-GB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60104" y="6704112"/>
            <a:ext cx="1630759" cy="153888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US" dirty="0"/>
              <a:t>Slide </a:t>
            </a:r>
            <a:fld id="{2C3277D1-BC98-493B-8101-346FFB0B7EC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 dirty="0"/>
              <a:t>Fare clic per modificare stile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  <a:endParaRPr lang="it-IT" dirty="0"/>
          </a:p>
          <a:p>
            <a:pPr lvl="1"/>
            <a:r>
              <a:rPr lang="it-IT" dirty="0"/>
              <a:t>Secondo livello</a:t>
            </a:r>
            <a:endParaRPr lang="it-IT" dirty="0"/>
          </a:p>
          <a:p>
            <a:pPr lvl="2"/>
            <a:r>
              <a:rPr lang="it-IT" dirty="0"/>
              <a:t>Terzo livello</a:t>
            </a:r>
            <a:endParaRPr lang="it-IT" dirty="0"/>
          </a:p>
          <a:p>
            <a:pPr lvl="3"/>
            <a:r>
              <a:rPr lang="it-IT" dirty="0"/>
              <a:t>Quarto livello</a:t>
            </a:r>
            <a:endParaRPr lang="it-IT" dirty="0"/>
          </a:p>
          <a:p>
            <a:pPr lvl="4"/>
            <a:r>
              <a:rPr lang="it-IT" dirty="0"/>
              <a:t>Quinto livello</a:t>
            </a:r>
            <a:endParaRPr lang="it-IT" dirty="0"/>
          </a:p>
        </p:txBody>
      </p:sp>
      <p:sp>
        <p:nvSpPr>
          <p:cNvPr id="4" name="Segnaposto testo 4"/>
          <p:cNvSpPr txBox="1"/>
          <p:nvPr/>
        </p:nvSpPr>
        <p:spPr>
          <a:xfrm>
            <a:off x="4203700" y="6364177"/>
            <a:ext cx="533400" cy="3698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14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+mn-ea"/>
                <a:cs typeface="Arial" panose="020B0604020202020204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2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6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+mn-ea"/>
                <a:cs typeface="Arial" panose="020B0604020202020204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6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+mn-ea"/>
                <a:cs typeface="Arial" panose="020B0604020202020204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6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8E439D-BB6F-4F92-80E7-E75DF2140600}" type="slidenum">
              <a:rPr lang="it-IT" smtClean="0"/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tx2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2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insideairbnb.com/naples/" TargetMode="Externa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0" y="4149725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 dirty="0"/>
              <a:t> </a:t>
            </a:r>
            <a:endParaRPr lang="it-IT" sz="2800" dirty="0"/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0" y="5743575"/>
            <a:ext cx="7772400" cy="708025"/>
          </a:xfrm>
        </p:spPr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7" name="Rettangolo 6"/>
          <p:cNvSpPr/>
          <p:nvPr/>
        </p:nvSpPr>
        <p:spPr>
          <a:xfrm>
            <a:off x="0" y="3832224"/>
            <a:ext cx="9144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8" name="Gruppo 7"/>
          <p:cNvGrpSpPr/>
          <p:nvPr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9" name="Connettore 1 8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9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3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3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3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3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3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4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4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4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4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4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4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5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5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5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5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5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5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6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6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6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6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6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6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7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7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7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7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7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7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8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8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8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8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8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8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9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9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9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9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9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0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1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1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1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1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1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1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2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12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12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12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ttore 1 12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Immagine 5" descr="foto_sfondo_sito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37" y="0"/>
            <a:ext cx="9160437" cy="2615496"/>
          </a:xfrm>
          <a:prstGeom prst="rect">
            <a:avLst/>
          </a:prstGeom>
        </p:spPr>
      </p:pic>
      <p:pic>
        <p:nvPicPr>
          <p:cNvPr id="132" name="Immagine 1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298" y="2724284"/>
            <a:ext cx="2368011" cy="99915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2560" y="4511234"/>
            <a:ext cx="5543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Midterm Presentation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74514"/>
            <a:ext cx="8581043" cy="635534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  <a:latin typeface="Helvetica" pitchFamily="2" charset="0"/>
              </a:rPr>
              <a:t>Study area and midterm scope</a:t>
            </a:r>
            <a:br>
              <a:rPr lang="en-US" dirty="0">
                <a:effectLst/>
                <a:latin typeface="Helvetica" pitchFamily="2" charset="0"/>
              </a:rPr>
            </a:br>
            <a:endParaRPr lang="en-GB" dirty="0">
              <a:effectLst/>
              <a:latin typeface="Helvetica" pitchFamily="2" charset="0"/>
            </a:endParaRPr>
          </a:p>
        </p:txBody>
      </p:sp>
      <p:sp>
        <p:nvSpPr>
          <p:cNvPr id="6" name="Rounded Rectangle 4"/>
          <p:cNvSpPr/>
          <p:nvPr/>
        </p:nvSpPr>
        <p:spPr>
          <a:xfrm>
            <a:off x="242340" y="982980"/>
            <a:ext cx="8581043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sz="2800" b="1" dirty="0">
                <a:solidFill>
                  <a:srgbClr val="19212C"/>
                </a:solidFill>
              </a:rPr>
              <a:t>Case study</a:t>
            </a:r>
            <a:r>
              <a:rPr lang="en-US" altLang="zh-CN" b="1" dirty="0"/>
              <a:t>  </a:t>
            </a:r>
            <a:endParaRPr lang="en-US" altLang="zh-CN" b="1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Feltre, a medium-sized municipality with a compact urban core and dispersed peripheral settlements.</a:t>
            </a:r>
            <a:endParaRPr lang="en-US" altLang="zh-CN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sz="2800" b="1" dirty="0">
                <a:solidFill>
                  <a:srgbClr val="19212C"/>
                </a:solidFill>
              </a:rPr>
              <a:t>Midterm focus  </a:t>
            </a:r>
            <a:endParaRPr lang="en-US" altLang="zh-CN" sz="2800" b="1" dirty="0">
              <a:solidFill>
                <a:srgbClr val="19212C"/>
              </a:solidFill>
            </a:endParaRP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demand–supply reading, zoning interpretation, major mobility generators and preliminary service logic.</a:t>
            </a:r>
            <a:endParaRPr lang="en-US" altLang="zh-CN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sz="2800" b="1" dirty="0">
                <a:solidFill>
                  <a:srgbClr val="19212C"/>
                </a:solidFill>
              </a:rPr>
              <a:t>Output at this stage  </a:t>
            </a:r>
            <a:endParaRPr lang="en-US" altLang="zh-CN" sz="2800" b="1" dirty="0">
              <a:solidFill>
                <a:srgbClr val="19212C"/>
              </a:solidFill>
            </a:endParaRP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a first line concept connecting the main demand poles through the core network.</a:t>
            </a:r>
            <a:endParaRPr lang="en-US" altLang="zh-CN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sz="2800" b="1" dirty="0"/>
              <a:t>Next phase  </a:t>
            </a:r>
            <a:endParaRPr lang="en-US" altLang="zh-CN" sz="2800" b="1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cycle time, frequencies, fleet sizing and assignment-based capacity checks.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82227"/>
            <a:ext cx="8581043" cy="635534"/>
          </a:xfrm>
        </p:spPr>
        <p:txBody>
          <a:bodyPr>
            <a:normAutofit/>
          </a:bodyPr>
          <a:lstStyle/>
          <a:p>
            <a:r>
              <a:rPr lang="en-US" sz="2500" dirty="0">
                <a:effectLst/>
                <a:latin typeface="Helvetica" pitchFamily="2" charset="0"/>
              </a:rPr>
              <a:t>POI</a:t>
            </a:r>
            <a:endParaRPr lang="en-US" sz="2500" dirty="0">
              <a:effectLst/>
              <a:latin typeface="Helvetica" pitchFamily="2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26" y="4102841"/>
            <a:ext cx="3568823" cy="19307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26" y="905406"/>
            <a:ext cx="4421373" cy="22028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962" y="908274"/>
            <a:ext cx="3962340" cy="219994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383" y="3274583"/>
            <a:ext cx="5297249" cy="2865656"/>
          </a:xfrm>
          <a:prstGeom prst="rect">
            <a:avLst/>
          </a:prstGeom>
        </p:spPr>
      </p:pic>
      <p:sp>
        <p:nvSpPr>
          <p:cNvPr id="15" name="标注: 弯曲线形 14"/>
          <p:cNvSpPr/>
          <p:nvPr/>
        </p:nvSpPr>
        <p:spPr>
          <a:xfrm>
            <a:off x="4030462" y="5184559"/>
            <a:ext cx="399495" cy="50602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553"/>
              <a:gd name="adj6" fmla="val -468889"/>
            </a:avLst>
          </a:prstGeom>
          <a:noFill/>
          <a:ln w="76200">
            <a:solidFill>
              <a:srgbClr val="00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标注: 弯曲线形 15"/>
          <p:cNvSpPr/>
          <p:nvPr/>
        </p:nvSpPr>
        <p:spPr>
          <a:xfrm>
            <a:off x="6213259" y="4369293"/>
            <a:ext cx="399495" cy="50602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92764"/>
              <a:gd name="adj6" fmla="val -657778"/>
            </a:avLst>
          </a:prstGeom>
          <a:noFill/>
          <a:ln w="76200">
            <a:solidFill>
              <a:srgbClr val="00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注: 弯曲线形 18"/>
          <p:cNvSpPr/>
          <p:nvPr/>
        </p:nvSpPr>
        <p:spPr>
          <a:xfrm>
            <a:off x="6943817" y="4202863"/>
            <a:ext cx="399495" cy="506027"/>
          </a:xfrm>
          <a:prstGeom prst="borderCallout2">
            <a:avLst>
              <a:gd name="adj1" fmla="val 18750"/>
              <a:gd name="adj2" fmla="val -8333"/>
              <a:gd name="adj3" fmla="val -51426"/>
              <a:gd name="adj4" fmla="val -27778"/>
              <a:gd name="adj5" fmla="val -276974"/>
              <a:gd name="adj6" fmla="val -40000"/>
            </a:avLst>
          </a:prstGeom>
          <a:noFill/>
          <a:ln w="76200">
            <a:solidFill>
              <a:srgbClr val="00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257650" y="3779826"/>
            <a:ext cx="135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Team Bases</a:t>
            </a:r>
            <a:endParaRPr lang="en-US" altLang="zh-CN" sz="18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1257650" y="3044133"/>
            <a:ext cx="135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Main Stage</a:t>
            </a:r>
            <a:endParaRPr lang="en-US" altLang="zh-CN" sz="1800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6814132" y="3011431"/>
            <a:ext cx="135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Live Screen</a:t>
            </a:r>
            <a:endParaRPr lang="en-US" altLang="zh-CN" sz="1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82227"/>
            <a:ext cx="8581043" cy="635534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effectLst/>
                <a:latin typeface="Helvetica" pitchFamily="2" charset="0"/>
              </a:rPr>
              <a:t>Accommodation Facilities</a:t>
            </a:r>
            <a:endParaRPr lang="en-US" altLang="zh-CN" sz="2400" dirty="0">
              <a:effectLst/>
              <a:latin typeface="Helvetica" pitchFamily="2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4770" y="748241"/>
            <a:ext cx="9014460" cy="4311439"/>
            <a:chOff x="0" y="748241"/>
            <a:chExt cx="9014460" cy="4311439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rcRect r="1417"/>
            <a:stretch>
              <a:fillRect/>
            </a:stretch>
          </p:blipFill>
          <p:spPr>
            <a:xfrm>
              <a:off x="0" y="748241"/>
              <a:ext cx="9014460" cy="431143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804064" y="998407"/>
              <a:ext cx="6735038" cy="4008361"/>
            </a:xfrm>
            <a:prstGeom prst="rect">
              <a:avLst/>
            </a:prstGeom>
            <a:blipFill dpi="0" rotWithShape="1">
              <a:blip r:embed="rId2">
                <a:alphaModFix amt="38000"/>
              </a:blip>
              <a:srcRect/>
              <a:stretch>
                <a:fillRect/>
              </a:stretch>
            </a:blipFill>
            <a:ln w="38100">
              <a:solidFill>
                <a:srgbClr val="002142"/>
              </a:solidFill>
            </a:ln>
            <a:effectLst>
              <a:outerShdw blurRad="40000" dist="23000" dir="5400000" rotWithShape="0">
                <a:srgbClr val="000000">
                  <a:alpha val="67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0" y="6109759"/>
            <a:ext cx="19107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hlinkClick r:id="rId3"/>
              </a:rPr>
              <a:t>Data Source: Naples | Inside Airbnb</a:t>
            </a:r>
            <a:endParaRPr lang="zh-CN" altLang="en-US" sz="900" dirty="0"/>
          </a:p>
        </p:txBody>
      </p:sp>
      <p:sp>
        <p:nvSpPr>
          <p:cNvPr id="32" name="文本框 31"/>
          <p:cNvSpPr txBox="1"/>
          <p:nvPr/>
        </p:nvSpPr>
        <p:spPr>
          <a:xfrm>
            <a:off x="868834" y="5191786"/>
            <a:ext cx="4999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dirty="0"/>
              <a:t>Airbnb mainly located in Zone 3, 216, 1, 71, 79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82227"/>
            <a:ext cx="8581043" cy="635534"/>
          </a:xfrm>
        </p:spPr>
        <p:txBody>
          <a:bodyPr>
            <a:normAutofit/>
          </a:bodyPr>
          <a:lstStyle/>
          <a:p>
            <a:r>
              <a:rPr lang="en-US" altLang="zh-CN" sz="2500" dirty="0">
                <a:effectLst/>
                <a:latin typeface="Helvetica" pitchFamily="2" charset="0"/>
              </a:rPr>
              <a:t>Forecasting</a:t>
            </a:r>
            <a:endParaRPr lang="en-US" sz="2500" dirty="0">
              <a:effectLst/>
              <a:latin typeface="Helvetica" pitchFamily="2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8" y="2166837"/>
            <a:ext cx="5471160" cy="635534"/>
          </a:xfrm>
          <a:prstGeom prst="rect">
            <a:avLst/>
          </a:prstGeom>
        </p:spPr>
      </p:pic>
      <p:graphicFrame>
        <p:nvGraphicFramePr>
          <p:cNvPr id="5" name="图表 4"/>
          <p:cNvGraphicFramePr/>
          <p:nvPr/>
        </p:nvGraphicFramePr>
        <p:xfrm>
          <a:off x="61421" y="3429000"/>
          <a:ext cx="4229100" cy="2711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54" y="822948"/>
            <a:ext cx="3370538" cy="225937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789" y="1015727"/>
            <a:ext cx="2780348" cy="105356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170045" y="3331067"/>
            <a:ext cx="46215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02122"/>
                </a:solidFill>
                <a:latin typeface="Arial" panose="020B0604020202020204" pitchFamily="34" charset="0"/>
              </a:rPr>
              <a:t>Barcelona Population: 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1,702,547</a:t>
            </a:r>
            <a:endParaRPr lang="en-US" altLang="zh-CN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202122"/>
                </a:solidFill>
                <a:latin typeface="Arial" panose="020B0604020202020204" pitchFamily="34" charset="0"/>
              </a:rPr>
              <a:t>VS.</a:t>
            </a:r>
            <a:endParaRPr lang="en-US" altLang="zh-CN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202122"/>
                </a:solidFill>
                <a:latin typeface="Arial" panose="020B0604020202020204" pitchFamily="34" charset="0"/>
              </a:rPr>
              <a:t>Naples Population: 1,061,644</a:t>
            </a:r>
            <a:endParaRPr lang="en-US" altLang="zh-CN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230283" y="4976413"/>
            <a:ext cx="4621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02122"/>
                </a:solidFill>
                <a:latin typeface="Arial" panose="020B0604020202020204" pitchFamily="34" charset="0"/>
              </a:rPr>
              <a:t>App. 1.1 million visitors, 300,000 Tourists not from </a:t>
            </a:r>
            <a:r>
              <a:rPr lang="en-US" altLang="zh-CN" dirty="0" err="1">
                <a:solidFill>
                  <a:srgbClr val="202122"/>
                </a:solidFill>
                <a:latin typeface="Arial" panose="020B0604020202020204" pitchFamily="34" charset="0"/>
              </a:rPr>
              <a:t>naples</a:t>
            </a:r>
            <a:endParaRPr lang="en-US" altLang="zh-CN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  <p:sp>
        <p:nvSpPr>
          <p:cNvPr id="16" name="箭头: 下 15"/>
          <p:cNvSpPr/>
          <p:nvPr/>
        </p:nvSpPr>
        <p:spPr>
          <a:xfrm>
            <a:off x="6286500" y="4380492"/>
            <a:ext cx="388620" cy="46982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82227"/>
            <a:ext cx="8581043" cy="635534"/>
          </a:xfrm>
        </p:spPr>
        <p:txBody>
          <a:bodyPr>
            <a:normAutofit/>
          </a:bodyPr>
          <a:lstStyle/>
          <a:p>
            <a:r>
              <a:rPr lang="en-US" sz="2500" dirty="0">
                <a:effectLst/>
                <a:latin typeface="Helvetica" pitchFamily="2" charset="0"/>
              </a:rPr>
              <a:t>POI</a:t>
            </a:r>
            <a:endParaRPr lang="en-US" sz="2500" dirty="0">
              <a:effectLst/>
              <a:latin typeface="Helvetica" pitchFamily="2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2227"/>
            <a:ext cx="6716235" cy="277373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08" y="3032257"/>
            <a:ext cx="7812535" cy="3226500"/>
          </a:xfrm>
          <a:prstGeom prst="rect">
            <a:avLst/>
          </a:prstGeom>
        </p:spPr>
      </p:pic>
      <p:sp>
        <p:nvSpPr>
          <p:cNvPr id="6" name="标注: 弯曲线形 5"/>
          <p:cNvSpPr/>
          <p:nvPr/>
        </p:nvSpPr>
        <p:spPr>
          <a:xfrm rot="16200000">
            <a:off x="2548880" y="1209698"/>
            <a:ext cx="809237" cy="776281"/>
          </a:xfrm>
          <a:prstGeom prst="borderCallout2">
            <a:avLst>
              <a:gd name="adj1" fmla="val 18750"/>
              <a:gd name="adj2" fmla="val -8333"/>
              <a:gd name="adj3" fmla="val 126250"/>
              <a:gd name="adj4" fmla="val -115401"/>
              <a:gd name="adj5" fmla="val 211571"/>
              <a:gd name="adj6" fmla="val -198117"/>
            </a:avLst>
          </a:prstGeom>
          <a:noFill/>
          <a:ln w="76200">
            <a:solidFill>
              <a:srgbClr val="00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63220" y="1859018"/>
            <a:ext cx="2284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02122"/>
                </a:solidFill>
                <a:latin typeface="Arial" panose="020B0604020202020204" pitchFamily="34" charset="0"/>
              </a:rPr>
              <a:t>From </a:t>
            </a:r>
            <a:r>
              <a:rPr lang="en-US" altLang="zh-CN" dirty="0" err="1">
                <a:solidFill>
                  <a:srgbClr val="202122"/>
                </a:solidFill>
                <a:latin typeface="Arial" panose="020B0604020202020204" pitchFamily="34" charset="0"/>
              </a:rPr>
              <a:t>italia</a:t>
            </a:r>
            <a:r>
              <a:rPr lang="en-US" altLang="zh-CN" dirty="0">
                <a:solidFill>
                  <a:srgbClr val="202122"/>
                </a:solidFill>
                <a:latin typeface="Arial" panose="020B0604020202020204" pitchFamily="34" charset="0"/>
              </a:rPr>
              <a:t> (non Camp) to Camp</a:t>
            </a:r>
            <a:endParaRPr lang="en-US" altLang="zh-CN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82227"/>
            <a:ext cx="8581043" cy="635534"/>
          </a:xfrm>
        </p:spPr>
        <p:txBody>
          <a:bodyPr>
            <a:normAutofit/>
          </a:bodyPr>
          <a:lstStyle/>
          <a:p>
            <a:r>
              <a:rPr lang="en-US" sz="2500" dirty="0">
                <a:effectLst/>
                <a:latin typeface="Helvetica" pitchFamily="2" charset="0"/>
              </a:rPr>
              <a:t>POI</a:t>
            </a:r>
            <a:endParaRPr lang="en-US" sz="2500" dirty="0">
              <a:effectLst/>
              <a:latin typeface="Helvetica" pitchFamily="2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3890" y="3591533"/>
            <a:ext cx="6630250" cy="27382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9321" r="24952"/>
          <a:stretch>
            <a:fillRect/>
          </a:stretch>
        </p:blipFill>
        <p:spPr>
          <a:xfrm>
            <a:off x="158691" y="82227"/>
            <a:ext cx="5067780" cy="3184241"/>
          </a:xfrm>
          <a:prstGeom prst="rect">
            <a:avLst/>
          </a:prstGeom>
        </p:spPr>
      </p:pic>
      <p:sp>
        <p:nvSpPr>
          <p:cNvPr id="6" name="标注: 弯曲线形 5"/>
          <p:cNvSpPr/>
          <p:nvPr/>
        </p:nvSpPr>
        <p:spPr>
          <a:xfrm rot="5400000">
            <a:off x="4843962" y="4663255"/>
            <a:ext cx="361600" cy="40341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1090"/>
              <a:gd name="adj6" fmla="val -557694"/>
            </a:avLst>
          </a:prstGeom>
          <a:noFill/>
          <a:ln w="76200">
            <a:solidFill>
              <a:srgbClr val="00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712822" y="1668949"/>
            <a:ext cx="3073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02122"/>
                </a:solidFill>
                <a:latin typeface="Arial" panose="020B0604020202020204" pitchFamily="34" charset="0"/>
              </a:rPr>
              <a:t>Desire line</a:t>
            </a:r>
            <a:endParaRPr lang="en-US" altLang="zh-CN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82227"/>
            <a:ext cx="8581043" cy="635534"/>
          </a:xfrm>
        </p:spPr>
        <p:txBody>
          <a:bodyPr>
            <a:normAutofit/>
          </a:bodyPr>
          <a:lstStyle/>
          <a:p>
            <a:r>
              <a:rPr lang="en-US" sz="2500" dirty="0">
                <a:effectLst/>
                <a:latin typeface="Helvetica" pitchFamily="2" charset="0"/>
              </a:rPr>
              <a:t>POI</a:t>
            </a:r>
            <a:endParaRPr lang="en-US" sz="2500" dirty="0">
              <a:effectLst/>
              <a:latin typeface="Helvetica" pitchFamily="2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2" y="795711"/>
            <a:ext cx="6817460" cy="28155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1" y="3611255"/>
            <a:ext cx="6817461" cy="28155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119908" y="2187618"/>
            <a:ext cx="1461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02122"/>
                </a:solidFill>
                <a:latin typeface="Arial" panose="020B0604020202020204" pitchFamily="34" charset="0"/>
              </a:rPr>
              <a:t>Origin Zone</a:t>
            </a:r>
            <a:endParaRPr lang="en-US" altLang="zh-CN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19908" y="4727645"/>
            <a:ext cx="1461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02122"/>
                </a:solidFill>
                <a:latin typeface="Arial" panose="020B0604020202020204" pitchFamily="34" charset="0"/>
              </a:rPr>
              <a:t>Destination Zone</a:t>
            </a:r>
            <a:endParaRPr lang="en-US" altLang="zh-CN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82227"/>
            <a:ext cx="8581043" cy="635534"/>
          </a:xfrm>
        </p:spPr>
        <p:txBody>
          <a:bodyPr>
            <a:normAutofit/>
          </a:bodyPr>
          <a:lstStyle/>
          <a:p>
            <a:r>
              <a:rPr lang="en-US" sz="2500" dirty="0">
                <a:effectLst/>
                <a:latin typeface="Helvetica" pitchFamily="2" charset="0"/>
              </a:rPr>
              <a:t>Mobility Patterns – Peak Hours Analysis</a:t>
            </a:r>
            <a:endParaRPr lang="en-US" sz="2500" dirty="0">
              <a:effectLst/>
              <a:latin typeface="Helvetica" pitchFamily="2" charset="0"/>
            </a:endParaRPr>
          </a:p>
        </p:txBody>
      </p:sp>
      <p:pic>
        <p:nvPicPr>
          <p:cNvPr id="20" name="chart_times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000" y="820000"/>
            <a:ext cx="5600000" cy="3400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6100000" y="820000"/>
            <a:ext cx="2650000" cy="3400000"/>
          </a:xfrm>
          <a:prstGeom prst="roundRect">
            <a:avLst/>
          </a:prstGeom>
          <a:solidFill>
            <a:srgbClr val="EBF3FB"/>
          </a:solidFill>
        </p:spPr>
        <p:txBody>
          <a:bodyPr wrap="square" lIns="180000" tIns="200000" rIns="180000" bIns="180000"/>
          <a:lstStyle/>
          <a:p>
            <a:r>
              <a:rPr lang="en-US" sz="1600" b="1" dirty="0">
                <a:solidFill>
                  <a:srgbClr val="19212C"/>
                </a:solidFill>
              </a:rPr>
              <a:t>Key Findings</a:t>
            </a:r>
            <a:endParaRPr lang="en-US" sz="1600" b="1" dirty="0">
              <a:solidFill>
                <a:srgbClr val="19212C"/>
              </a:solidFill>
            </a:endParaRPr>
          </a:p>
          <a:p>
            <a:endParaRPr lang="en-US" sz="1200" dirty="0"/>
          </a:p>
          <a:p>
            <a:r>
              <a:rPr lang="en-US" sz="1200" dirty="0">
                <a:solidFill>
                  <a:srgbClr val="19212C"/>
                </a:solidFill>
              </a:rPr>
              <a:t>Morning peak (05:00-09:00): ~40M monthly trips, the busiest slot</a:t>
            </a:r>
            <a:endParaRPr lang="en-US" sz="1200" dirty="0">
              <a:solidFill>
                <a:srgbClr val="19212C"/>
              </a:solidFill>
            </a:endParaRPr>
          </a:p>
          <a:p>
            <a:endParaRPr lang="en-US" sz="1200" dirty="0"/>
          </a:p>
          <a:p>
            <a:r>
              <a:rPr lang="en-US" sz="1200" dirty="0">
                <a:solidFill>
                  <a:srgbClr val="19212C"/>
                </a:solidFill>
              </a:rPr>
              <a:t>Evening peak (16:00-20:00) equally intense    strong commuter patterns</a:t>
            </a:r>
            <a:endParaRPr lang="en-US" sz="1200" dirty="0">
              <a:solidFill>
                <a:srgbClr val="19212C"/>
              </a:solidFill>
            </a:endParaRPr>
          </a:p>
          <a:p>
            <a:endParaRPr lang="en-US" sz="1200" dirty="0"/>
          </a:p>
          <a:p>
            <a:r>
              <a:rPr lang="en-US" sz="1200" dirty="0">
                <a:solidFill>
                  <a:srgbClr val="19212C"/>
                </a:solidFill>
              </a:rPr>
              <a:t>Night slot (00:00-05:00) quietest at ~16M trips</a:t>
            </a:r>
            <a:endParaRPr lang="en-US" sz="1200" dirty="0">
              <a:solidFill>
                <a:srgbClr val="19212C"/>
              </a:solidFill>
            </a:endParaRPr>
          </a:p>
          <a:p>
            <a:endParaRPr lang="en-US" sz="1200" dirty="0"/>
          </a:p>
          <a:p>
            <a:r>
              <a:rPr lang="en-US" sz="1200" b="1" dirty="0">
                <a:solidFill>
                  <a:srgbClr val="C0392B"/>
                </a:solidFill>
              </a:rPr>
              <a:t>America’s Cup will add pressure in the 09:00-20:00 window</a:t>
            </a:r>
            <a:endParaRPr lang="en-US" sz="1200" b="1" dirty="0">
              <a:solidFill>
                <a:srgbClr val="C0392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82227"/>
            <a:ext cx="8581043" cy="635534"/>
          </a:xfrm>
        </p:spPr>
        <p:txBody>
          <a:bodyPr>
            <a:normAutofit fontScale="90000"/>
          </a:bodyPr>
          <a:lstStyle/>
          <a:p>
            <a:r>
              <a:rPr lang="en-US" sz="2500" dirty="0">
                <a:effectLst/>
                <a:latin typeface="Helvetica" pitchFamily="2" charset="0"/>
              </a:rPr>
              <a:t>Transport Mode Split &amp; Demand Concent</a:t>
            </a:r>
            <a:br>
              <a:rPr lang="en-US" altLang="zh-CN" sz="2500" dirty="0">
                <a:effectLst/>
                <a:latin typeface="Helvetica" pitchFamily="2" charset="0"/>
              </a:rPr>
            </a:br>
            <a:r>
              <a:rPr lang="en-US" sz="2500" dirty="0">
                <a:effectLst/>
                <a:latin typeface="Helvetica" pitchFamily="2" charset="0"/>
              </a:rPr>
              <a:t>ration</a:t>
            </a:r>
            <a:endParaRPr lang="en-US" sz="2500" dirty="0">
              <a:effectLst/>
              <a:latin typeface="Helvetica" pitchFamily="2" charset="0"/>
            </a:endParaRPr>
          </a:p>
        </p:txBody>
      </p:sp>
      <p:pic>
        <p:nvPicPr>
          <p:cNvPr id="22" name="chart_mo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930" y="819785"/>
            <a:ext cx="3343910" cy="2972435"/>
          </a:xfrm>
          <a:prstGeom prst="rect">
            <a:avLst/>
          </a:prstGeom>
        </p:spPr>
      </p:pic>
      <p:pic>
        <p:nvPicPr>
          <p:cNvPr id="23" name="chart_destin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355" y="819785"/>
            <a:ext cx="3927475" cy="2618105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64770" y="3637915"/>
            <a:ext cx="4914900" cy="1631950"/>
          </a:xfrm>
          <a:prstGeom prst="roundRect">
            <a:avLst/>
          </a:prstGeom>
          <a:solidFill>
            <a:srgbClr val="EBF3FB"/>
          </a:solidFill>
        </p:spPr>
        <p:txBody>
          <a:bodyPr wrap="square" lIns="200000" tIns="180000" rIns="200000" bIns="180000"/>
          <a:lstStyle/>
          <a:p>
            <a:r>
              <a:rPr lang="en-US" sz="1400" b="1" dirty="0">
                <a:solidFill>
                  <a:srgbClr val="C0392B"/>
                </a:solidFill>
              </a:rPr>
              <a:t>Implication for the America’s Cup: </a:t>
            </a:r>
            <a:r>
              <a:rPr lang="en-US" sz="1400" dirty="0">
                <a:solidFill>
                  <a:srgbClr val="19212C"/>
                </a:solidFill>
              </a:rPr>
              <a:t>97.2% of trips currently use non-rail modes. Naples absorbs 100M+ internal trips/month and 2.2M from the rest of Italy. The event will concentrate additional demand on an already-saturated network, so public transport enhancement is critical.</a:t>
            </a:r>
            <a:endParaRPr lang="en-US" sz="1400" dirty="0">
              <a:solidFill>
                <a:srgbClr val="19212C"/>
              </a:solidFill>
            </a:endParaRPr>
          </a:p>
        </p:txBody>
      </p:sp>
      <p:pic>
        <p:nvPicPr>
          <p:cNvPr id="2" name="图片 1" descr="chart6_inbound_ita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355" y="3594735"/>
            <a:ext cx="3927475" cy="2625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74514"/>
            <a:ext cx="8581043" cy="635534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  <a:latin typeface="Helvetica" pitchFamily="2" charset="0"/>
              </a:rPr>
              <a:t>Midterm takeaways and next steps</a:t>
            </a:r>
            <a:br>
              <a:rPr lang="en-US" dirty="0">
                <a:effectLst/>
                <a:latin typeface="Helvetica" pitchFamily="2" charset="0"/>
              </a:rPr>
            </a:br>
            <a:br>
              <a:rPr lang="en-US" dirty="0">
                <a:effectLst/>
                <a:latin typeface="Helvetica" pitchFamily="2" charset="0"/>
              </a:rPr>
            </a:br>
            <a:endParaRPr lang="en-GB" dirty="0">
              <a:effectLst/>
              <a:latin typeface="Helvetica" pitchFamily="2" charset="0"/>
            </a:endParaRPr>
          </a:p>
        </p:txBody>
      </p:sp>
      <p:sp>
        <p:nvSpPr>
          <p:cNvPr id="6" name="Rounded Rectangle 4"/>
          <p:cNvSpPr/>
          <p:nvPr/>
        </p:nvSpPr>
        <p:spPr>
          <a:xfrm>
            <a:off x="360256" y="982980"/>
            <a:ext cx="3930265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sz="2800" b="1" dirty="0">
                <a:solidFill>
                  <a:srgbClr val="19212C"/>
                </a:solidFill>
              </a:rPr>
              <a:t>Completed at midterm</a:t>
            </a:r>
            <a:endParaRPr lang="en-US" altLang="zh-CN" sz="2800" b="1" dirty="0">
              <a:solidFill>
                <a:srgbClr val="19212C"/>
              </a:solidFill>
            </a:endParaRP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Study area and zoning interpretation</a:t>
            </a:r>
            <a:endParaRPr lang="en-US" altLang="zh-CN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Reading of mobility demand and activity poles</a:t>
            </a:r>
            <a:endParaRPr lang="en-US" altLang="zh-CN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Identification of the core bus corridor</a:t>
            </a:r>
            <a:endParaRPr lang="en-US" altLang="zh-CN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Draft line routes and preliminary service concept</a:t>
            </a:r>
            <a:endParaRPr lang="en-US" altLang="zh-CN" dirty="0"/>
          </a:p>
        </p:txBody>
      </p:sp>
      <p:sp>
        <p:nvSpPr>
          <p:cNvPr id="2" name="Rounded Rectangle 4"/>
          <p:cNvSpPr/>
          <p:nvPr/>
        </p:nvSpPr>
        <p:spPr>
          <a:xfrm>
            <a:off x="4971395" y="982980"/>
            <a:ext cx="3930265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sz="2800" b="1" dirty="0">
                <a:solidFill>
                  <a:srgbClr val="FF0000"/>
                </a:solidFill>
              </a:rPr>
              <a:t>To be developed for the final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Stop / terminal refinement</a:t>
            </a:r>
            <a:endParaRPr lang="en-US" altLang="zh-CN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Cycle time and frequency calculation</a:t>
            </a:r>
            <a:endParaRPr lang="en-US" altLang="zh-CN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Fleet sizing, technical constraints and capacity checks</a:t>
            </a:r>
            <a:endParaRPr lang="en-US" altLang="zh-CN" dirty="0"/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19212C"/>
                </a:solidFill>
                <a:latin typeface="Aptos"/>
              </a:defRPr>
            </a:pPr>
            <a:r>
              <a:rPr lang="en-US" altLang="zh-CN" dirty="0"/>
              <a:t>Scenario comparison and economic sustainability</a:t>
            </a: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82227"/>
            <a:ext cx="8581043" cy="635534"/>
          </a:xfrm>
        </p:spPr>
        <p:txBody>
          <a:bodyPr>
            <a:normAutofit/>
          </a:bodyPr>
          <a:lstStyle/>
          <a:p>
            <a:r>
              <a:rPr lang="en-US" sz="2500" dirty="0">
                <a:effectLst/>
                <a:latin typeface="Helvetica" pitchFamily="2" charset="0"/>
              </a:rPr>
              <a:t>POI</a:t>
            </a:r>
            <a:endParaRPr lang="en-US" sz="2500" dirty="0"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Grp="1" noChangeAspect="1" noChangeArrowheads="1"/>
          </p:cNvSpPr>
          <p:nvPr>
            <p:ph type="title"/>
          </p:nvPr>
        </p:nvSpPr>
        <p:spPr>
          <a:xfrm>
            <a:off x="0" y="82227"/>
            <a:ext cx="8581043" cy="635534"/>
          </a:xfrm>
        </p:spPr>
        <p:txBody>
          <a:bodyPr>
            <a:normAutofit/>
          </a:bodyPr>
          <a:lstStyle/>
          <a:p>
            <a:r>
              <a:rPr lang="en-US" sz="2500" dirty="0">
                <a:effectLst/>
                <a:latin typeface="Helvetica" pitchFamily="2" charset="0"/>
              </a:rPr>
              <a:t>POI</a:t>
            </a:r>
            <a:endParaRPr lang="en-US" sz="2500" dirty="0"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</Template>
  <TotalTime>0</TotalTime>
  <Words>1847</Words>
  <Application>WPS 演示</Application>
  <PresentationFormat>全屏显示(4:3)</PresentationFormat>
  <Paragraphs>85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Arial</vt:lpstr>
      <vt:lpstr>Helvetica</vt:lpstr>
      <vt:lpstr>Aptos</vt:lpstr>
      <vt:lpstr>Times</vt:lpstr>
      <vt:lpstr>Calibri</vt:lpstr>
      <vt:lpstr>微软雅黑</vt:lpstr>
      <vt:lpstr>Arial Unicode MS</vt:lpstr>
      <vt:lpstr>Segoe UI</vt:lpstr>
      <vt:lpstr>Times New Roman</vt:lpstr>
      <vt:lpstr>Aptos</vt:lpstr>
      <vt:lpstr>Helvetica LT Pro</vt:lpstr>
      <vt:lpstr>Good Times</vt:lpstr>
      <vt:lpstr>POLI</vt:lpstr>
      <vt:lpstr> </vt:lpstr>
      <vt:lpstr>Study area and midterm scope </vt:lpstr>
      <vt:lpstr>POI</vt:lpstr>
      <vt:lpstr>Accommodation Facilities</vt:lpstr>
      <vt:lpstr>Forecasting</vt:lpstr>
      <vt:lpstr>POI</vt:lpstr>
      <vt:lpstr>POI</vt:lpstr>
      <vt:lpstr>POI</vt:lpstr>
      <vt:lpstr>Mobility Patterns – Peak Hours Analysis</vt:lpstr>
      <vt:lpstr>Transport Mode Split &amp; Demand Concentration</vt:lpstr>
      <vt:lpstr>Midterm takeaways and next steps  </vt:lpstr>
      <vt:lpstr>POI</vt:lpstr>
      <vt:lpstr>POI</vt:lpstr>
    </vt:vector>
  </TitlesOfParts>
  <Company>Area Servizi ICT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Alessandro Colleoni</dc:creator>
  <cp:lastModifiedBy>you like?</cp:lastModifiedBy>
  <cp:revision>218</cp:revision>
  <cp:lastPrinted>2017-01-16T14:47:00Z</cp:lastPrinted>
  <dcterms:created xsi:type="dcterms:W3CDTF">2015-05-26T12:27:00Z</dcterms:created>
  <dcterms:modified xsi:type="dcterms:W3CDTF">2026-05-11T00:39:12Z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8D7D701F00E549848B4D9855951E6514_13</vt:lpwstr>
  </property>
  <property fmtid="{D5CDD505-2E9C-101B-9397-08002B2CF9AE}" pid="3" name="KSOProductBuildVer">
    <vt:lpwstr>2052-12.1.0.25865</vt:lpwstr>
  </property>
</Properties>
</file>